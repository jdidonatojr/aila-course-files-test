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https://vimeo.com/1211116806/987aa0255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hyperlink" Target="https://omny.fm/shows/the-top-line/why-modern-clinical-trials-need-a-finance-first-strategy-sponsored-1"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p:txBody>
          <a:bodyPr/>
          <a:lstStyle/>
          <a:p>
            <a:r>
              <a:t>Are You Ready to Walk Into TechIQ and Win? In the next 60 minutes you will know your buyers, own your pitch, and leave with a plan to follow up every conversation with confidence.</a:t>
            </a:r>
          </a:p>
        </p:txBody>
      </p:sp>
      <p:sp>
        <p:nvSpPr>
          <p:cNvPr id="4" name="Title 3"/>
          <p:cNvSpPr>
            <a:spLocks noGrp="1"/>
          </p:cNvSpPr>
          <p:nvPr>
            <p:ph type="ctrTitle"/>
          </p:nvPr>
        </p:nvSpPr>
        <p:spPr/>
        <p:txBody>
          <a:bodyPr/>
          <a:lstStyle/>
          <a:p>
            <a:r>
              <a:t>TechIQ 2026</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Recognize the four buyer personas instantly</a:t>
            </a:r>
          </a:p>
          <a:p>
            <a:pPr>
              <a:spcAft>
                <a:spcPts val="1400"/>
              </a:spcAft>
            </a:pPr>
            <a:r>
              <a:rPr sz="2000"/>
              <a:t>Deliver a sharp CTFS pitch — short, medium, or long version</a:t>
            </a:r>
          </a:p>
          <a:p>
            <a:pPr>
              <a:spcAft>
                <a:spcPts val="1400"/>
              </a:spcAft>
            </a:pPr>
            <a:r>
              <a:rPr sz="2000"/>
              <a:t>Go deep on the brand-new Contracting module</a:t>
            </a:r>
          </a:p>
          <a:p>
            <a:pPr>
              <a:spcAft>
                <a:spcPts val="1400"/>
              </a:spcAft>
            </a:pPr>
            <a:r>
              <a:rPr sz="2000"/>
              <a:t>Handle objections without flinching — Leave TechIQ with a 30-day follow-up plan in hand</a:t>
            </a:r>
          </a:p>
        </p:txBody>
      </p:sp>
      <p:sp>
        <p:nvSpPr>
          <p:cNvPr id="3" name="Title 2"/>
          <p:cNvSpPr>
            <a:spLocks noGrp="1"/>
          </p:cNvSpPr>
          <p:nvPr>
            <p:ph type="title"/>
          </p:nvPr>
        </p:nvSpPr>
        <p:spPr/>
        <p:txBody>
          <a:bodyPr/>
          <a:lstStyle/>
          <a:p>
            <a:r>
              <a:t>What You Will Walk Away With</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First — Watch the CTFS Overview</a:t>
            </a:r>
          </a:p>
          <a:p>
            <a:pPr>
              <a:spcAft>
                <a:spcPts val="400"/>
              </a:spcAft>
            </a:pPr>
            <a:r>
              <a:rPr sz="1400" b="0"/>
              <a:t>• Before we dive in, take two minutes to see the platform in action. This frames everything we cover in the next hour.
Watch: </a:t>
            </a:r>
            <a:r>
              <a:rPr sz="1400" b="0">
                <a:hlinkClick r:id="rId2"/>
              </a:rPr>
              <a:t>CTFS OVERVIEW</a:t>
            </a:r>
          </a:p>
        </p:txBody>
      </p:sp>
      <p:sp>
        <p:nvSpPr>
          <p:cNvPr id="3" name="Subtitle 2"/>
          <p:cNvSpPr>
            <a:spLocks noGrp="1"/>
          </p:cNvSpPr>
          <p:nvPr>
            <p:ph type="subTitle" idx="1"/>
          </p:nvPr>
        </p:nvSpPr>
        <p:spPr/>
        <p:txBody>
          <a:bodyPr/>
          <a:lstStyle/>
          <a:p>
            <a:r>
              <a:rP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1</a:t>
            </a:r>
          </a:p>
        </p:txBody>
      </p:sp>
      <p:sp>
        <p:nvSpPr>
          <p:cNvPr id="4" name="Title 3"/>
          <p:cNvSpPr>
            <a:spLocks noGrp="1"/>
          </p:cNvSpPr>
          <p:nvPr>
            <p:ph type="title"/>
          </p:nvPr>
        </p:nvSpPr>
        <p:spPr/>
        <p:txBody>
          <a:bodyPr/>
          <a:lstStyle/>
          <a:p>
            <a:r>
              <a:t>Know Your Buyer</a:t>
            </a:r>
          </a:p>
          <a:p>
            <a:r>
              <a:rPr sz="1400" b="0"/>
              <a:t>Module 1 Clinical trial financial pain is shared across the organization — but every stakeholder feels it differently. Speak to the right pain and you have their attention. Miss it and you are just another vendor.</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 — Digital Transformation Leader</a:t>
            </a:r>
          </a:p>
          <a:p>
            <a:pPr>
              <a:spcAft>
                <a:spcPts val="1400"/>
              </a:spcAft>
            </a:pPr>
            <a:r>
              <a:rPr sz="1400" b="0"/>
              <a:t>wants AI ROI that goes beyond pilots and actually scales</a:t>
            </a:r>
          </a:p>
          <a:p>
            <a:pPr>
              <a:spcAft>
                <a:spcPts val="200"/>
              </a:spcAft>
            </a:pPr>
            <a:r>
              <a:rPr sz="1600" b="1"/>
              <a:t>Rachel — Site ClinOps Director</a:t>
            </a:r>
          </a:p>
          <a:p>
            <a:pPr>
              <a:spcAft>
                <a:spcPts val="1400"/>
              </a:spcAft>
            </a:pPr>
            <a:r>
              <a:rPr sz="1400" b="0"/>
              <a:t>wants predictable cash flow and fewer payment disputes</a:t>
            </a:r>
          </a:p>
        </p:txBody>
      </p:sp>
      <p:sp>
        <p:nvSpPr>
          <p:cNvPr id="3" name="Content Placeholder 2"/>
          <p:cNvSpPr>
            <a:spLocks noGrp="1"/>
          </p:cNvSpPr>
          <p:nvPr>
            <p:ph idx="18"/>
          </p:nvPr>
        </p:nvSpPr>
        <p:spPr/>
        <p:txBody>
          <a:bodyPr/>
          <a:lstStyle/>
          <a:p>
            <a:pPr>
              <a:spcAft>
                <a:spcPts val="200"/>
              </a:spcAft>
            </a:pPr>
            <a:r>
              <a:rPr sz="1600" b="1"/>
              <a:t>Gilbert — Clinical Operations Director</a:t>
            </a:r>
          </a:p>
          <a:p>
            <a:pPr>
              <a:spcAft>
                <a:spcPts val="1400"/>
              </a:spcAft>
            </a:pPr>
            <a:r>
              <a:rPr sz="1400" b="0"/>
              <a:t>wants speed, site satisfaction, and fewer manual processes</a:t>
            </a:r>
          </a:p>
          <a:p>
            <a:pPr>
              <a:spcAft>
                <a:spcPts val="200"/>
              </a:spcAft>
            </a:pPr>
            <a:r>
              <a:rPr sz="1600" b="1"/>
              <a:t>Reena — VP IT Clinical</a:t>
            </a:r>
          </a:p>
          <a:p>
            <a:pPr>
              <a:spcAft>
                <a:spcPts val="1400"/>
              </a:spcAft>
            </a:pPr>
            <a:r>
              <a:rPr sz="1400" b="0"/>
              <a:t>wants secure integration, audit-ready governance, no new tech debt</a:t>
            </a:r>
          </a:p>
        </p:txBody>
      </p:sp>
      <p:sp>
        <p:nvSpPr>
          <p:cNvPr id="4" name="Text Placeholder 3"/>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5" name="Title 4"/>
          <p:cNvSpPr>
            <a:spLocks noGrp="1"/>
          </p:cNvSpPr>
          <p:nvPr>
            <p:ph type="title"/>
          </p:nvPr>
        </p:nvSpPr>
        <p:spPr/>
        <p:txBody>
          <a:bodyPr/>
          <a:lstStyle/>
          <a:p>
            <a:r>
              <a:t>The Four Personas You Will Meet at TechIQ</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a:t>
            </a:r>
          </a:p>
          <a:p>
            <a:pPr>
              <a:spcAft>
                <a:spcPts val="1400"/>
              </a:spcAft>
            </a:pPr>
            <a:r>
              <a:rPr sz="1400" b="0"/>
              <a:t>Where is the proof that AI does more than sit in a sandbox?</a:t>
            </a:r>
          </a:p>
          <a:p>
            <a:pPr>
              <a:spcAft>
                <a:spcPts val="200"/>
              </a:spcAft>
            </a:pPr>
            <a:r>
              <a:rPr sz="1600" b="1"/>
              <a:t>Rachel</a:t>
            </a:r>
          </a:p>
          <a:p>
            <a:pPr>
              <a:spcAft>
                <a:spcPts val="1400"/>
              </a:spcAft>
            </a:pPr>
            <a:r>
              <a:rPr sz="1400" b="0"/>
              <a:t>When will I stop chasing sponsors for payment updates?</a:t>
            </a:r>
          </a:p>
        </p:txBody>
      </p:sp>
      <p:sp>
        <p:nvSpPr>
          <p:cNvPr id="3" name="Content Placeholder 2"/>
          <p:cNvSpPr>
            <a:spLocks noGrp="1"/>
          </p:cNvSpPr>
          <p:nvPr>
            <p:ph idx="18"/>
          </p:nvPr>
        </p:nvSpPr>
        <p:spPr/>
        <p:txBody>
          <a:bodyPr/>
          <a:lstStyle/>
          <a:p>
            <a:pPr>
              <a:spcAft>
                <a:spcPts val="200"/>
              </a:spcAft>
            </a:pPr>
            <a:r>
              <a:rPr sz="1600" b="1"/>
              <a:t>Gilbert</a:t>
            </a:r>
          </a:p>
          <a:p>
            <a:pPr>
              <a:spcAft>
                <a:spcPts val="1400"/>
              </a:spcAft>
            </a:pPr>
            <a:r>
              <a:rPr sz="1400" b="0"/>
              <a:t>Why are my sites frustrated and how do I fix payment cycle times?</a:t>
            </a:r>
          </a:p>
          <a:p>
            <a:pPr>
              <a:spcAft>
                <a:spcPts val="200"/>
              </a:spcAft>
            </a:pPr>
            <a:r>
              <a:rPr sz="1600" b="1"/>
              <a:t>Reena</a:t>
            </a:r>
          </a:p>
          <a:p>
            <a:pPr>
              <a:spcAft>
                <a:spcPts val="1400"/>
              </a:spcAft>
            </a:pPr>
            <a:r>
              <a:rPr sz="1400" b="0"/>
              <a:t>How do I modernize without breaking compliance or creating new integration nightmares?</a:t>
            </a:r>
          </a:p>
        </p:txBody>
      </p:sp>
      <p:sp>
        <p:nvSpPr>
          <p:cNvPr id="4" name="Text Placeholder 3"/>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5" name="Title 4"/>
          <p:cNvSpPr>
            <a:spLocks noGrp="1"/>
          </p:cNvSpPr>
          <p:nvPr>
            <p:ph type="title"/>
          </p:nvPr>
        </p:nvSpPr>
        <p:spPr/>
        <p:txBody>
          <a:bodyPr/>
          <a:lstStyle/>
          <a:p>
            <a:r>
              <a:t>What Each Stakeholder Is Really Asking</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For Gilbert</a:t>
            </a:r>
          </a:p>
          <a:p>
            <a:pPr>
              <a:spcAft>
                <a:spcPts val="1400"/>
              </a:spcAft>
            </a:pPr>
            <a:r>
              <a:rPr sz="1400" b="0"/>
              <a:t>How are payment delays affecting your site relationships right now?</a:t>
            </a:r>
          </a:p>
        </p:txBody>
      </p:sp>
      <p:sp>
        <p:nvSpPr>
          <p:cNvPr id="3" name="Content Placeholder 2"/>
          <p:cNvSpPr>
            <a:spLocks noGrp="1"/>
          </p:cNvSpPr>
          <p:nvPr>
            <p:ph idx="20"/>
          </p:nvPr>
        </p:nvSpPr>
        <p:spPr/>
        <p:txBody>
          <a:bodyPr/>
          <a:lstStyle/>
          <a:p>
            <a:pPr>
              <a:spcAft>
                <a:spcPts val="200"/>
              </a:spcAft>
            </a:pPr>
            <a:r>
              <a:rPr sz="1600" b="1"/>
              <a:t>For Andres</a:t>
            </a:r>
          </a:p>
          <a:p>
            <a:pPr>
              <a:spcAft>
                <a:spcPts val="1400"/>
              </a:spcAft>
            </a:pPr>
            <a:r>
              <a:rPr sz="1400" b="0"/>
              <a:t>Where are your current AI investments stalling before they reach production?</a:t>
            </a:r>
          </a:p>
        </p:txBody>
      </p:sp>
      <p:sp>
        <p:nvSpPr>
          <p:cNvPr id="4" name="Content Placeholder 3"/>
          <p:cNvSpPr>
            <a:spLocks noGrp="1"/>
          </p:cNvSpPr>
          <p:nvPr>
            <p:ph idx="21"/>
          </p:nvPr>
        </p:nvSpPr>
        <p:spPr/>
        <p:txBody>
          <a:bodyPr/>
          <a:lstStyle/>
          <a:p>
            <a:pPr>
              <a:spcAft>
                <a:spcPts val="200"/>
              </a:spcAft>
            </a:pPr>
            <a:r>
              <a:rPr sz="1600" b="1"/>
              <a:t>For Reena</a:t>
            </a:r>
          </a:p>
          <a:p>
            <a:pPr>
              <a:spcAft>
                <a:spcPts val="1400"/>
              </a:spcAft>
            </a:pPr>
            <a:r>
              <a:rPr sz="1400" b="0"/>
              <a:t>What keeps you up at night from a compliance risk standpoint?</a:t>
            </a:r>
          </a:p>
        </p:txBody>
      </p:sp>
      <p:sp>
        <p:nvSpPr>
          <p:cNvPr id="5" name="Text Placeholder 4"/>
          <p:cNvSpPr>
            <a:spLocks noGrp="1"/>
          </p:cNvSpPr>
          <p:nvPr>
            <p:ph type="body" idx="16" sz="quarter"/>
          </p:nvPr>
        </p:nvSpPr>
        <p:spPr/>
        <p:txBody>
          <a:bodyPr/>
          <a:lstStyle/>
          <a:p>
            <a:r>
              <a:rPr sz="1400"/>
              <a:t>Lead with their world — not your product.</a:t>
            </a:r>
          </a:p>
        </p:txBody>
      </p:sp>
      <p:sp>
        <p:nvSpPr>
          <p:cNvPr id="6" name="Title 5"/>
          <p:cNvSpPr>
            <a:spLocks noGrp="1"/>
          </p:cNvSpPr>
          <p:nvPr>
            <p:ph type="title"/>
          </p:nvPr>
        </p:nvSpPr>
        <p:spPr/>
        <p:txBody>
          <a:bodyPr/>
          <a:lstStyle/>
          <a:p>
            <a:r>
              <a:t>The Discovery Questions That Open Doors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Persona Drill — Practice Live</a:t>
            </a:r>
          </a:p>
          <a:p>
            <a:r>
              <a:rPr sz="1400" b="0"/>
              <a:t>Module 1 You know the four personas. Now put it to work. Tell your instructor which persona you are facing and describe a quick scenario, then ask your instructor to play that stakeholder and coach your discovery questions in a live voice role-play.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2</a:t>
            </a:r>
          </a:p>
        </p:txBody>
      </p:sp>
      <p:sp>
        <p:nvSpPr>
          <p:cNvPr id="4" name="Title 3"/>
          <p:cNvSpPr>
            <a:spLocks noGrp="1"/>
          </p:cNvSpPr>
          <p:nvPr>
            <p:ph type="title"/>
          </p:nvPr>
        </p:nvSpPr>
        <p:spPr/>
        <p:txBody>
          <a:bodyPr/>
          <a:lstStyle/>
          <a:p>
            <a:r>
              <a:t>The CTFS Value Proposition</a:t>
            </a:r>
          </a:p>
          <a:p>
            <a:r>
              <a:rPr sz="1400" b="0"/>
              <a:t>Module 2 The problem in one sentence: clinical trial financial management is still largely manual, siloed, and disconnected — and that fragmentation costs sponsors up to $55,000 per day in late-stage trials._x000B__x000B_CTFS is the only platform that fixes the whole problem in one place.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GrantPlan</a:t>
            </a:r>
          </a:p>
          <a:p>
            <a:pPr>
              <a:spcAft>
                <a:spcPts val="1400"/>
              </a:spcAft>
            </a:pPr>
            <a:r>
              <a:rPr sz="1400" b="0"/>
              <a:t>accurate investigator budgets using 38 million negotiated data points</a:t>
            </a:r>
          </a:p>
          <a:p>
            <a:pPr>
              <a:spcAft>
                <a:spcPts val="200"/>
              </a:spcAft>
            </a:pPr>
            <a:r>
              <a:rPr sz="1600" b="1"/>
              <a:t>Contracting</a:t>
            </a:r>
          </a:p>
          <a:p>
            <a:pPr>
              <a:spcAft>
                <a:spcPts val="1400"/>
              </a:spcAft>
            </a:pPr>
            <a:r>
              <a:rPr sz="1400" b="0"/>
              <a:t>AI-driven CTA authoring and amendment workflows</a:t>
            </a:r>
          </a:p>
        </p:txBody>
      </p:sp>
      <p:sp>
        <p:nvSpPr>
          <p:cNvPr id="3" name="Content Placeholder 2"/>
          <p:cNvSpPr>
            <a:spLocks noGrp="1"/>
          </p:cNvSpPr>
          <p:nvPr>
            <p:ph idx="20"/>
          </p:nvPr>
        </p:nvSpPr>
        <p:spPr/>
        <p:txBody>
          <a:bodyPr/>
          <a:lstStyle/>
          <a:p>
            <a:pPr>
              <a:spcAft>
                <a:spcPts val="200"/>
              </a:spcAft>
            </a:pPr>
            <a:r>
              <a:rPr sz="1600" b="1"/>
              <a:t>Participant Payments</a:t>
            </a:r>
          </a:p>
          <a:p>
            <a:pPr>
              <a:spcAft>
                <a:spcPts val="1400"/>
              </a:spcAft>
            </a:pPr>
            <a:r>
              <a:rPr sz="1400" b="0"/>
              <a:t>full-service global participant stipends and reimbursements</a:t>
            </a:r>
          </a:p>
        </p:txBody>
      </p:sp>
      <p:sp>
        <p:nvSpPr>
          <p:cNvPr id="4" name="Content Placeholder 3"/>
          <p:cNvSpPr>
            <a:spLocks noGrp="1"/>
          </p:cNvSpPr>
          <p:nvPr>
            <p:ph idx="21"/>
          </p:nvPr>
        </p:nvSpPr>
        <p:spPr/>
        <p:txBody>
          <a:bodyPr/>
          <a:lstStyle/>
          <a:p>
            <a:pPr>
              <a:spcAft>
                <a:spcPts val="200"/>
              </a:spcAft>
            </a:pPr>
            <a:r>
              <a:rPr sz="1600" b="1"/>
              <a:t>Forecasting</a:t>
            </a:r>
          </a:p>
          <a:p>
            <a:pPr>
              <a:spcAft>
                <a:spcPts val="1400"/>
              </a:spcAft>
            </a:pPr>
            <a:r>
              <a:rPr sz="1400" b="0"/>
              <a:t>adaptive, AI-informed payment prediction</a:t>
            </a:r>
          </a:p>
          <a:p>
            <a:pPr>
              <a:spcAft>
                <a:spcPts val="200"/>
              </a:spcAft>
            </a:pPr>
            <a:r>
              <a:rPr sz="1600" b="1"/>
              <a:t>Site Payments</a:t>
            </a:r>
          </a:p>
          <a:p>
            <a:pPr>
              <a:spcAft>
                <a:spcPts val="1400"/>
              </a:spcAft>
            </a:pPr>
            <a:r>
              <a:rPr sz="1400" b="0"/>
              <a:t>automated, real-time payments with full site portal visibility</a:t>
            </a:r>
          </a:p>
        </p:txBody>
      </p:sp>
      <p:sp>
        <p:nvSpPr>
          <p:cNvPr id="5" name="Text Placeholder 4"/>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6" name="Title 5"/>
          <p:cNvSpPr>
            <a:spLocks noGrp="1"/>
          </p:cNvSpPr>
          <p:nvPr>
            <p:ph type="title"/>
          </p:nvPr>
        </p:nvSpPr>
        <p:spPr/>
        <p:txBody>
          <a:bodyPr/>
          <a:lstStyle/>
          <a:p>
            <a:r>
              <a:t>Five Modules, One Financial Backbone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Why Unification Is the Differentiator</a:t>
            </a:r>
          </a:p>
          <a:p>
            <a:r>
              <a:rPr sz="1400" b="0"/>
              <a:t>Module 2 A budget agreed in GrantPlan informs the contract. The contract triggers payment milestones. Forecasting reflects real activity in real time.
No duplicate data entry. No reconciliation guesswork. No duct tape between point solutions.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$15B</a:t>
            </a:r>
          </a:p>
          <a:p>
            <a:pPr marL="0" indent="0">
              <a:spcAft>
                <a:spcPts val="2400"/>
              </a:spcAft>
              <a:buNone/>
            </a:pPr>
            <a:r>
              <a:rPr sz="1400" b="0"/>
              <a:t>in payments processed</a:t>
            </a:r>
          </a:p>
          <a:p>
            <a:pPr marL="0" indent="0">
              <a:buNone/>
            </a:pPr>
            <a:r>
              <a:rPr sz="4000" b="1"/>
              <a:t>200+</a:t>
            </a:r>
          </a:p>
          <a:p>
            <a:pPr marL="0" indent="0">
              <a:spcAft>
                <a:spcPts val="2400"/>
              </a:spcAft>
              <a:buNone/>
            </a:pPr>
            <a:r>
              <a:rPr sz="1400" b="0"/>
              <a:t>geographies supported</a:t>
            </a:r>
          </a:p>
        </p:txBody>
      </p:sp>
      <p:sp>
        <p:nvSpPr>
          <p:cNvPr id="3" name="Content Placeholder 2"/>
          <p:cNvSpPr>
            <a:spLocks noGrp="1"/>
          </p:cNvSpPr>
          <p:nvPr>
            <p:ph idx="20"/>
          </p:nvPr>
        </p:nvSpPr>
        <p:spPr/>
        <p:txBody>
          <a:bodyPr/>
          <a:lstStyle/>
          <a:p>
            <a:pPr marL="0" indent="0">
              <a:buNone/>
            </a:pPr>
            <a:r>
              <a:rPr sz="4000" b="1"/>
              <a:t>$3M</a:t>
            </a:r>
          </a:p>
          <a:p>
            <a:pPr marL="0" indent="0">
              <a:spcAft>
                <a:spcPts val="2400"/>
              </a:spcAft>
              <a:buNone/>
            </a:pPr>
            <a:r>
              <a:rPr sz="1400" b="0"/>
              <a:t>projected annual savings for high-volume sponsors</a:t>
            </a:r>
          </a:p>
        </p:txBody>
      </p:sp>
      <p:sp>
        <p:nvSpPr>
          <p:cNvPr id="4" name="Content Placeholder 3"/>
          <p:cNvSpPr>
            <a:spLocks noGrp="1"/>
          </p:cNvSpPr>
          <p:nvPr>
            <p:ph idx="21"/>
          </p:nvPr>
        </p:nvSpPr>
        <p:spPr/>
        <p:txBody>
          <a:bodyPr/>
          <a:lstStyle/>
          <a:p>
            <a:pPr marL="0" indent="0">
              <a:buNone/>
            </a:pPr>
            <a:r>
              <a:rPr sz="4000" b="1"/>
              <a:t>90%</a:t>
            </a:r>
          </a:p>
          <a:p>
            <a:pPr marL="0" indent="0">
              <a:spcAft>
                <a:spcPts val="2400"/>
              </a:spcAft>
              <a:buNone/>
            </a:pPr>
            <a:r>
              <a:rPr sz="1400" b="0"/>
              <a:t>of top 20 pharma use IQVIA for clinical trial financial management</a:t>
            </a:r>
          </a:p>
          <a:p>
            <a:pPr marL="0" indent="0">
              <a:buNone/>
            </a:pPr>
            <a:r>
              <a:rPr sz="4000" b="1"/>
              <a:t>50%</a:t>
            </a:r>
          </a:p>
          <a:p>
            <a:pPr marL="0" indent="0">
              <a:spcAft>
                <a:spcPts val="2400"/>
              </a:spcAft>
              <a:buNone/>
            </a:pPr>
            <a:r>
              <a:rPr sz="1400" b="0"/>
              <a:t>projected reduction in financial processing time</a:t>
            </a:r>
          </a:p>
        </p:txBody>
      </p:sp>
      <p:sp>
        <p:nvSpPr>
          <p:cNvPr id="6" name="Title 5"/>
          <p:cNvSpPr>
            <a:spLocks noGrp="1"/>
          </p:cNvSpPr>
          <p:nvPr>
            <p:ph type="title"/>
          </p:nvPr>
        </p:nvSpPr>
        <p:spPr/>
        <p:txBody>
          <a:bodyPr/>
          <a:lstStyle/>
          <a:p>
            <a:r>
              <a:t>The Numbers That Anchor Your Pitch</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Under 35 words</a:t>
            </a:r>
          </a:p>
          <a:p>
            <a:pPr>
              <a:spcAft>
                <a:spcPts val="1400"/>
              </a:spcAft>
            </a:pPr>
            <a:r>
              <a:rPr sz="1400" b="0"/>
              <a:t>for a hallway conversation</a:t>
            </a:r>
          </a:p>
        </p:txBody>
      </p:sp>
      <p:sp>
        <p:nvSpPr>
          <p:cNvPr id="3" name="Content Placeholder 2"/>
          <p:cNvSpPr>
            <a:spLocks noGrp="1"/>
          </p:cNvSpPr>
          <p:nvPr>
            <p:ph idx="20"/>
          </p:nvPr>
        </p:nvSpPr>
        <p:spPr/>
        <p:txBody>
          <a:bodyPr/>
          <a:lstStyle/>
          <a:p>
            <a:pPr>
              <a:spcAft>
                <a:spcPts val="200"/>
              </a:spcAft>
            </a:pPr>
            <a:r>
              <a:rPr sz="1600" b="1"/>
              <a:t>Under 150 words</a:t>
            </a:r>
          </a:p>
          <a:p>
            <a:pPr>
              <a:spcAft>
                <a:spcPts val="1400"/>
              </a:spcAft>
            </a:pPr>
            <a:r>
              <a:rPr sz="1400" b="0"/>
              <a:t>for a formal meeting</a:t>
            </a:r>
          </a:p>
        </p:txBody>
      </p:sp>
      <p:sp>
        <p:nvSpPr>
          <p:cNvPr id="4" name="Content Placeholder 3"/>
          <p:cNvSpPr>
            <a:spLocks noGrp="1"/>
          </p:cNvSpPr>
          <p:nvPr>
            <p:ph idx="21"/>
          </p:nvPr>
        </p:nvSpPr>
        <p:spPr/>
        <p:txBody>
          <a:bodyPr/>
          <a:lstStyle/>
          <a:p>
            <a:pPr>
              <a:spcAft>
                <a:spcPts val="200"/>
              </a:spcAft>
            </a:pPr>
            <a:r>
              <a:rPr sz="1600" b="1"/>
              <a:t>Under 75 words</a:t>
            </a:r>
          </a:p>
          <a:p>
            <a:pPr>
              <a:spcAft>
                <a:spcPts val="1400"/>
              </a:spcAft>
            </a:pPr>
            <a:r>
              <a:rPr sz="1400" b="0"/>
              <a:t>for a five-minute chat</a:t>
            </a:r>
          </a:p>
        </p:txBody>
      </p:sp>
      <p:sp>
        <p:nvSpPr>
          <p:cNvPr id="5" name="Text Placeholder 4"/>
          <p:cNvSpPr>
            <a:spLocks noGrp="1"/>
          </p:cNvSpPr>
          <p:nvPr>
            <p:ph type="body" idx="16" sz="quarter"/>
          </p:nvPr>
        </p:nvSpPr>
        <p:spPr/>
        <p:txBody>
          <a:bodyPr/>
          <a:lstStyle/>
          <a:p>
            <a:r>
              <a:rPr sz="1400"/>
              <a:t>Lead with the customer's problem before you name the product — they should be nodding before you say CTFS.</a:t>
            </a:r>
          </a:p>
        </p:txBody>
      </p:sp>
      <p:sp>
        <p:nvSpPr>
          <p:cNvPr id="6" name="Title 5"/>
          <p:cNvSpPr>
            <a:spLocks noGrp="1"/>
          </p:cNvSpPr>
          <p:nvPr>
            <p:ph type="title"/>
          </p:nvPr>
        </p:nvSpPr>
        <p:spPr/>
        <p:txBody>
          <a:bodyPr/>
          <a:lstStyle/>
          <a:p>
            <a:r>
              <a:t>Know Which Pitch Fits the Moment</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Elevator Pitch Practice — Go Live</a:t>
            </a:r>
          </a:p>
          <a:p>
            <a:r>
              <a:rPr sz="1400" b="0"/>
              <a:t>Module 2 Pick your persona. Pick your version — short, medium, or long. Deliver your pitch aloud, then ask your instructor for specific feedback on clarity, relevance to that persona, and how well you handled competitive positioning. (Ask the instructor to give you an example)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3</a:t>
            </a:r>
          </a:p>
        </p:txBody>
      </p:sp>
      <p:sp>
        <p:nvSpPr>
          <p:cNvPr id="4" name="Title 3"/>
          <p:cNvSpPr>
            <a:spLocks noGrp="1"/>
          </p:cNvSpPr>
          <p:nvPr>
            <p:ph type="title"/>
          </p:nvPr>
        </p:nvSpPr>
        <p:spPr/>
        <p:txBody>
          <a:bodyPr/>
          <a:lstStyle/>
          <a:p>
            <a:r>
              <a:t>CTFS Contracting Deep Dive</a:t>
            </a:r>
          </a:p>
          <a:p>
            <a:r>
              <a:rPr sz="1400" b="0"/>
              <a:t>Module 3 Contracting reaches general availability at the end of November. Every person at TechIQ is going to hear about it. You need to own it.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CTA Processing Is a Burning Problem</a:t>
            </a:r>
          </a:p>
          <a:p>
            <a:r>
              <a:rPr sz="1400" b="0"/>
              <a:t>Contract execution is one of the most manual, error-prone steps in trial start-up. Delays in signing ripple into delayed site activation, delayed payments, and compressed timelines.
Every persona in the room recognizes this pain — even if they describe it differently.</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What CTFS Contracting Actually Does</a:t>
            </a:r>
          </a:p>
          <a:p>
            <a:r>
              <a:rPr sz="1400" b="0"/>
              <a:t>Streamlines authoring, exchanging, and amending clinical trial agreements between sites and sponsors.
Agentic AI ingests CTA terms — not a basic OCR scan, but intelligent models that extract, interpret, and contextualize key terms, payment triggers, and site-specific nuances.
That data feeds automatically into financial and operational workflows downstream.</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signed CTA automatically informs payment milestones in Site Payments.</a:t>
            </a:r>
          </a:p>
        </p:txBody>
      </p:sp>
      <p:sp>
        <p:nvSpPr>
          <p:cNvPr id="3" name="Content Placeholder 2"/>
          <p:cNvSpPr>
            <a:spLocks noGrp="1"/>
          </p:cNvSpPr>
          <p:nvPr>
            <p:ph idx="20"/>
          </p:nvPr>
        </p:nvSpPr>
        <p:spPr/>
        <p:txBody>
          <a:bodyPr/>
          <a:lstStyle/>
          <a:p>
            <a:pPr>
              <a:spcAft>
                <a:spcPts val="200"/>
              </a:spcAft>
            </a:pPr>
            <a:r>
              <a:rPr sz="1600" b="1"/>
              <a:t>Contracting is the upstream trigger that makes the rest of the financial lifecycle accurate and automated.</a:t>
            </a:r>
          </a:p>
        </p:txBody>
      </p:sp>
      <p:sp>
        <p:nvSpPr>
          <p:cNvPr id="4" name="Content Placeholder 3"/>
          <p:cNvSpPr>
            <a:spLocks noGrp="1"/>
          </p:cNvSpPr>
          <p:nvPr>
            <p:ph idx="21"/>
          </p:nvPr>
        </p:nvSpPr>
        <p:spPr/>
        <p:txBody>
          <a:bodyPr/>
          <a:lstStyle/>
          <a:p>
            <a:pPr>
              <a:spcAft>
                <a:spcPts val="200"/>
              </a:spcAft>
            </a:pPr>
            <a:r>
              <a:rPr sz="1600" b="1"/>
              <a:t>Budget alignment in GrantPlan updates without manual re-entry.</a:t>
            </a:r>
          </a:p>
        </p:txBody>
      </p:sp>
      <p:sp>
        <p:nvSpPr>
          <p:cNvPr id="5" name="Text Placeholder 4"/>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6" name="Title 5"/>
          <p:cNvSpPr>
            <a:spLocks noGrp="1"/>
          </p:cNvSpPr>
          <p:nvPr>
            <p:ph type="title"/>
          </p:nvPr>
        </p:nvSpPr>
        <p:spPr/>
        <p:txBody>
          <a:bodyPr/>
          <a:lstStyle/>
          <a:p>
            <a:r>
              <a:t>This Is Not a Standalone Tool</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2885" r="12885"/>
          <a:stretch>
            <a:fillRect/>
          </a:stretch>
        </p:blipFill>
        <p:spPr/>
      </p:pic>
      <p:sp>
        <p:nvSpPr>
          <p:cNvPr id="4" name="Title 3"/>
          <p:cNvSpPr>
            <a:spLocks noGrp="1"/>
          </p:cNvSpPr>
          <p:nvPr>
            <p:ph type="title"/>
          </p:nvPr>
        </p:nvSpPr>
        <p:spPr/>
        <p:txBody>
          <a:bodyPr/>
          <a:lstStyle/>
          <a:p>
            <a:r>
              <a:t>The Business Case in Plain Numbers</a:t>
            </a:r>
          </a:p>
          <a:p>
            <a:r>
              <a:rPr sz="1400" b="0"/>
              <a:t>Projected $3 million in annual savings for high-volume sponsors running 100-plus trials per year.
Assumes two CTAs per site and 200 sites per trial.
That is the cost of manual re-entry, errors, and delays — eliminated.</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Contracting completes the upstream coverage.</a:t>
            </a:r>
          </a:p>
          <a:p>
            <a:pPr>
              <a:spcAft>
                <a:spcPts val="200"/>
              </a:spcAft>
            </a:pPr>
            <a:r>
              <a:rPr sz="1600" b="1"/>
              <a:t>Early adopters gain input into the product roadmap and get priority on new features.</a:t>
            </a:r>
          </a:p>
        </p:txBody>
      </p:sp>
      <p:sp>
        <p:nvSpPr>
          <p:cNvPr id="3" name="Content Placeholder 2"/>
          <p:cNvSpPr>
            <a:spLocks noGrp="1"/>
          </p:cNvSpPr>
          <p:nvPr>
            <p:ph idx="18"/>
          </p:nvPr>
        </p:nvSpPr>
        <p:spPr/>
        <p:txBody>
          <a:bodyPr/>
          <a:lstStyle/>
          <a:p>
            <a:pPr>
              <a:spcAft>
                <a:spcPts val="200"/>
              </a:spcAft>
            </a:pPr>
            <a:r>
              <a:rPr sz="1600" b="1"/>
              <a:t>If a buyer asks: why commit now when the module just launched?</a:t>
            </a:r>
          </a:p>
          <a:p>
            <a:pPr>
              <a:spcAft>
                <a:spcPts val="200"/>
              </a:spcAft>
            </a:pPr>
            <a:r>
              <a:rPr sz="1600" b="1"/>
              <a:t>The rest of the CTFS suite is live and proven.</a:t>
            </a:r>
          </a:p>
        </p:txBody>
      </p:sp>
      <p:sp>
        <p:nvSpPr>
          <p:cNvPr id="4" name="Text Placeholder 3"/>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5" name="Title 4"/>
          <p:cNvSpPr>
            <a:spLocks noGrp="1"/>
          </p:cNvSpPr>
          <p:nvPr>
            <p:ph type="title"/>
          </p:nvPr>
        </p:nvSpPr>
        <p:spPr/>
        <p:txBody>
          <a:bodyPr/>
          <a:lstStyle/>
          <a:p>
            <a:r>
              <a:t>Handling the Timing Question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Contracting Conversation Practice</a:t>
            </a:r>
          </a:p>
          <a:p>
            <a:r>
              <a:rPr sz="1400" b="0"/>
              <a:t>Tell your instructor you want to practice explaining the Contracting module to a specific persona — for example, a clinical ops director who is skeptical about AI accuracy. Walk through your explanation aloud, then ask your instructor for feedback on how well you connected the module to that persona's priorities.
Try swapping roles with the instructor…</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4</a:t>
            </a:r>
          </a:p>
        </p:txBody>
      </p:sp>
      <p:sp>
        <p:nvSpPr>
          <p:cNvPr id="4" name="Title 3"/>
          <p:cNvSpPr>
            <a:spLocks noGrp="1"/>
          </p:cNvSpPr>
          <p:nvPr>
            <p:ph type="title"/>
          </p:nvPr>
        </p:nvSpPr>
        <p:spPr/>
        <p:txBody>
          <a:bodyPr/>
          <a:lstStyle/>
          <a:p>
            <a:r>
              <a:t>Objections, Qualification, and Follow-Up</a:t>
            </a:r>
          </a:p>
          <a:p>
            <a:r>
              <a:rPr sz="1400" b="0"/>
              <a:t>Module 4 The best TechIQ conversation means nothing if it does not go anywhere after the event. This module is about converting great conversations into pipeline.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CTFS is new</a:t>
            </a:r>
          </a:p>
          <a:p>
            <a:pPr>
              <a:spcAft>
                <a:spcPts val="1400"/>
              </a:spcAft>
            </a:pPr>
            <a:r>
              <a:rPr sz="1400" b="0"/>
              <a:t>anchor to $15 billion processed, 200-plus geographies, 90 percent top-pharma adoption</a:t>
            </a:r>
          </a:p>
          <a:p>
            <a:pPr>
              <a:spcAft>
                <a:spcPts val="200"/>
              </a:spcAft>
            </a:pPr>
            <a:r>
              <a:rPr sz="1600" b="1"/>
              <a:t>It is too expensive</a:t>
            </a:r>
          </a:p>
          <a:p>
            <a:pPr>
              <a:spcAft>
                <a:spcPts val="1400"/>
              </a:spcAft>
            </a:pPr>
            <a:r>
              <a:rPr sz="1400" b="0"/>
              <a:t>reframe with $55,000 per day in delay costs and $3 million in projected savings</a:t>
            </a:r>
          </a:p>
        </p:txBody>
      </p:sp>
      <p:sp>
        <p:nvSpPr>
          <p:cNvPr id="3" name="Content Placeholder 2"/>
          <p:cNvSpPr>
            <a:spLocks noGrp="1"/>
          </p:cNvSpPr>
          <p:nvPr>
            <p:ph idx="18"/>
          </p:nvPr>
        </p:nvSpPr>
        <p:spPr/>
        <p:txBody>
          <a:bodyPr/>
          <a:lstStyle/>
          <a:p>
            <a:pPr>
              <a:spcAft>
                <a:spcPts val="200"/>
              </a:spcAft>
            </a:pPr>
            <a:r>
              <a:rPr sz="1600" b="1"/>
              <a:t>We already have a system</a:t>
            </a:r>
          </a:p>
          <a:p>
            <a:pPr>
              <a:spcAft>
                <a:spcPts val="1400"/>
              </a:spcAft>
            </a:pPr>
            <a:r>
              <a:rPr sz="1400" b="0"/>
              <a:t>ask what it does not unify and quantify the cost of that gap</a:t>
            </a:r>
          </a:p>
          <a:p>
            <a:pPr>
              <a:spcAft>
                <a:spcPts val="200"/>
              </a:spcAft>
            </a:pPr>
            <a:r>
              <a:rPr sz="1600" b="1"/>
              <a:t>AI sounds interesting but we are not ready</a:t>
            </a:r>
          </a:p>
          <a:p>
            <a:pPr>
              <a:spcAft>
                <a:spcPts val="1400"/>
              </a:spcAft>
            </a:pPr>
            <a:r>
              <a:rPr sz="1400" b="0"/>
              <a:t>point to proven outcomes and the sandbox pilot option</a:t>
            </a:r>
          </a:p>
        </p:txBody>
      </p:sp>
      <p:sp>
        <p:nvSpPr>
          <p:cNvPr id="4" name="Text Placeholder 3"/>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5" name="Title 4"/>
          <p:cNvSpPr>
            <a:spLocks noGrp="1"/>
          </p:cNvSpPr>
          <p:nvPr>
            <p:ph type="title"/>
          </p:nvPr>
        </p:nvSpPr>
        <p:spPr/>
        <p:txBody>
          <a:bodyPr/>
          <a:lstStyle/>
          <a:p>
            <a:r>
              <a:t>Four Objections You Will Hear — and How to Answer Them</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Never Lead with Features — Lead with Unification</a:t>
            </a:r>
          </a:p>
          <a:p>
            <a:r>
              <a:rPr sz="1400" b="0"/>
              <a:t>Point solutions solve one problem and create new integration problems.
CTFS solves the whole financial lifecycle and eliminates the data handoff friction that point solutions require.
That is your competitive edge — say it confidently and say it early.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Openness to a demo or sandbox pilot within 30 days</a:t>
            </a:r>
          </a:p>
          <a:p>
            <a:pPr>
              <a:spcAft>
                <a:spcPts val="200"/>
              </a:spcAft>
            </a:pPr>
            <a:r>
              <a:rPr sz="1600" b="1"/>
              <a:t>Budget authority or visibility into the budget process</a:t>
            </a:r>
          </a:p>
        </p:txBody>
      </p:sp>
      <p:sp>
        <p:nvSpPr>
          <p:cNvPr id="3" name="Content Placeholder 2"/>
          <p:cNvSpPr>
            <a:spLocks noGrp="1"/>
          </p:cNvSpPr>
          <p:nvPr>
            <p:ph idx="18"/>
          </p:nvPr>
        </p:nvSpPr>
        <p:spPr/>
        <p:txBody>
          <a:bodyPr/>
          <a:lstStyle/>
          <a:p>
            <a:pPr>
              <a:spcAft>
                <a:spcPts val="200"/>
              </a:spcAft>
            </a:pPr>
            <a:r>
              <a:rPr sz="1600" b="1"/>
              <a:t>Expressed pain around payment delays, contract cycle times, forecasting accuracy, or site dissatisfaction</a:t>
            </a:r>
          </a:p>
          <a:p>
            <a:pPr>
              <a:spcAft>
                <a:spcPts val="200"/>
              </a:spcAft>
            </a:pPr>
            <a:r>
              <a:rPr sz="1600" b="1"/>
              <a:t>A named decision-maker or influencer willing to continue the conversation</a:t>
            </a:r>
          </a:p>
        </p:txBody>
      </p:sp>
      <p:sp>
        <p:nvSpPr>
          <p:cNvPr id="4" name="Text Placeholder 3"/>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5" name="Title 4"/>
          <p:cNvSpPr>
            <a:spLocks noGrp="1"/>
          </p:cNvSpPr>
          <p:nvPr>
            <p:ph type="title"/>
          </p:nvPr>
        </p:nvSpPr>
        <p:spPr/>
        <p:txBody>
          <a:bodyPr/>
          <a:lstStyle/>
          <a:p>
            <a:r>
              <a:t>What a Qualified TechIQ Lead Looks Like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Capture It Before You Lose It</a:t>
            </a:r>
          </a:p>
          <a:p>
            <a:r>
              <a:rPr sz="1400" b="0"/>
              <a:t>After each conversation: note the persona, the stated pain, the qualifying signals, and the agreed next step.
A 90-second voice memo immediately after the conversation is enough. Do not rely on memory at the end of the day.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Hear It From the Field — The Shift From Friction to Flow</a:t>
            </a:r>
          </a:p>
          <a:p>
            <a:pPr>
              <a:spcAft>
                <a:spcPts val="400"/>
              </a:spcAft>
            </a:pPr>
            <a:r>
              <a:rPr sz="1400" b="0"/>
              <a:t>• Listen: </a:t>
            </a:r>
            <a:r>
              <a:rPr sz="1400" b="0">
                <a:hlinkClick r:id="rId2"/>
              </a:rPr>
              <a:t>https://omny.fm/shows/the-top-line/why-modern-clinical-trials-need-a-finance-first-strategy-sponsored-1</a:t>
            </a:r>
          </a:p>
        </p:txBody>
      </p:sp>
      <p:sp>
        <p:nvSpPr>
          <p:cNvPr id="3" name="Subtitle 2"/>
          <p:cNvSpPr>
            <a:spLocks noGrp="1"/>
          </p:cNvSpPr>
          <p:nvPr>
            <p:ph type="subTitle" idx="1"/>
          </p:nvPr>
        </p:nvSpPr>
        <p:spPr/>
        <p:txBody>
          <a:bodyPr/>
          <a:lstStyle/>
          <a:p>
            <a:r>
              <a:rPr/>
              <a:t>TAKEAWAY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Your 30-Day Follow-Up Plan</a:t>
            </a:r>
          </a:p>
          <a:p>
            <a:r>
              <a:rPr sz="1400" b="0"/>
              <a:t>Contact | Follow-Up Action | Target Date
For each key contact: define the personalized action, the scheduled date, and the milestone you are targeting within 30 days. Reference the specific pain they raised at TechIQ — generic emails get deleted, personalized ones get replies.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scheduled discovery call or demonstration</a:t>
            </a:r>
          </a:p>
          <a:p>
            <a:pPr>
              <a:spcAft>
                <a:spcPts val="1400"/>
              </a:spcAft>
            </a:pPr>
            <a:r>
              <a:rPr sz="1400" b="0"/>
              <a:t>One of these three is your success marker for every TechIQ contact.</a:t>
            </a:r>
          </a:p>
        </p:txBody>
      </p:sp>
      <p:sp>
        <p:nvSpPr>
          <p:cNvPr id="3" name="Content Placeholder 2"/>
          <p:cNvSpPr>
            <a:spLocks noGrp="1"/>
          </p:cNvSpPr>
          <p:nvPr>
            <p:ph idx="20"/>
          </p:nvPr>
        </p:nvSpPr>
        <p:spPr/>
        <p:txBody>
          <a:bodyPr/>
          <a:lstStyle/>
          <a:p>
            <a:pPr>
              <a:spcAft>
                <a:spcPts val="200"/>
              </a:spcAft>
            </a:pPr>
            <a:r>
              <a:rPr sz="1600" b="1"/>
              <a:t>A sandbox pilot invitation accepted</a:t>
            </a:r>
          </a:p>
        </p:txBody>
      </p:sp>
      <p:sp>
        <p:nvSpPr>
          <p:cNvPr id="4" name="Content Placeholder 3"/>
          <p:cNvSpPr>
            <a:spLocks noGrp="1"/>
          </p:cNvSpPr>
          <p:nvPr>
            <p:ph idx="21"/>
          </p:nvPr>
        </p:nvSpPr>
        <p:spPr/>
        <p:txBody>
          <a:bodyPr/>
          <a:lstStyle/>
          <a:p>
            <a:pPr>
              <a:spcAft>
                <a:spcPts val="200"/>
              </a:spcAft>
            </a:pPr>
            <a:r>
              <a:rPr sz="1600" b="1"/>
              <a:t>A defined opportunity in the CRM with agreed qualification criteria</a:t>
            </a:r>
          </a:p>
        </p:txBody>
      </p:sp>
      <p:sp>
        <p:nvSpPr>
          <p:cNvPr id="5" name="Text Placeholder 4"/>
          <p:cNvSpPr>
            <a:spLocks noGrp="1"/>
          </p:cNvSpPr>
          <p:nvPr>
            <p:ph type="body" idx="16" sz="quarter"/>
          </p:nvPr>
        </p:nvSpPr>
        <p:spPr/>
        <p:txBody>
          <a:bodyPr/>
          <a:lstStyle/>
          <a:p>
            <a:r>
              <a:rPr sz="1400"/>
              <a:t>© 2026. All rights reserved. IQVIA® is a registered trademark of IQVIA Inc. in the United States, the European Union, and various other countries.</a:t>
            </a:r>
          </a:p>
        </p:txBody>
      </p:sp>
      <p:sp>
        <p:nvSpPr>
          <p:cNvPr id="6" name="Title 5"/>
          <p:cNvSpPr>
            <a:spLocks noGrp="1"/>
          </p:cNvSpPr>
          <p:nvPr>
            <p:ph type="title"/>
          </p:nvPr>
        </p:nvSpPr>
        <p:spPr/>
        <p:txBody>
          <a:bodyPr/>
          <a:lstStyle/>
          <a:p>
            <a:r>
              <a:t>30-Day Milestone Targets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2876" r="12876"/>
          <a:stretch>
            <a:fillRect/>
          </a:stretch>
        </p:blipFill>
        <p:spPr/>
      </p:pic>
      <p:sp>
        <p:nvSpPr>
          <p:cNvPr id="4" name="Title 3"/>
          <p:cNvSpPr>
            <a:spLocks noGrp="1"/>
          </p:cNvSpPr>
          <p:nvPr>
            <p:ph type="title"/>
          </p:nvPr>
        </p:nvSpPr>
        <p:spPr/>
        <p:txBody>
          <a:bodyPr/>
          <a:lstStyle/>
          <a:p>
            <a:r>
              <a:t>Full-Scenario Debrief Build Your Follow-Up Live</a:t>
            </a:r>
          </a:p>
          <a:p>
            <a:r>
              <a:rPr sz="1400" b="0"/>
              <a:t>closing Tell your instructor a brief TechIQ conversation scenario — the persona, the objection raised, and the qualifying signals you observed. Then ask your instructor to help you build your follow-up action for that contact using the 30-day plan structure.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Optional — Quick Confidence Check</a:t>
            </a:r>
          </a:p>
          <a:p>
            <a:r>
              <a:rPr sz="1400" b="0"/>
              <a:t>Knowledge check Before you walk into TechIQ, take a moment for a private, optional knowledge check. Use it to spot any gaps and close them before the conversations start.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Are Ready. Now Go Make It Count.</a:t>
            </a:r>
          </a:p>
          <a:p>
            <a:r>
              <a:rPr sz="1400" b="0"/>
              <a:t>congratulations</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